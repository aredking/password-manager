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howGuides="1">
      <p:cViewPr>
        <p:scale>
          <a:sx n="100" d="100"/>
          <a:sy n="100" d="100"/>
        </p:scale>
        <p:origin x="912" y="3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82800" cy="82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33C0-E1DF-46C8-96FF-8C8973265C3E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503C-3F03-484B-B9DE-6A304C446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23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33C0-E1DF-46C8-96FF-8C8973265C3E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503C-3F03-484B-B9DE-6A304C446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65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33C0-E1DF-46C8-96FF-8C8973265C3E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503C-3F03-484B-B9DE-6A304C446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543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33C0-E1DF-46C8-96FF-8C8973265C3E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503C-3F03-484B-B9DE-6A304C446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05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33C0-E1DF-46C8-96FF-8C8973265C3E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503C-3F03-484B-B9DE-6A304C446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527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33C0-E1DF-46C8-96FF-8C8973265C3E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503C-3F03-484B-B9DE-6A304C446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82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33C0-E1DF-46C8-96FF-8C8973265C3E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503C-3F03-484B-B9DE-6A304C446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165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33C0-E1DF-46C8-96FF-8C8973265C3E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503C-3F03-484B-B9DE-6A304C446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5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33C0-E1DF-46C8-96FF-8C8973265C3E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503C-3F03-484B-B9DE-6A304C446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40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33C0-E1DF-46C8-96FF-8C8973265C3E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503C-3F03-484B-B9DE-6A304C446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9790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533C0-E1DF-46C8-96FF-8C8973265C3E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1503C-3F03-484B-B9DE-6A304C446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444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533C0-E1DF-46C8-96FF-8C8973265C3E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1503C-3F03-484B-B9DE-6A304C446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97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701200" y="2600999"/>
            <a:ext cx="7120800" cy="908963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Georgia" panose="02040502050405020303" pitchFamily="18" charset="0"/>
              </a:rPr>
              <a:t>Менеджер паролей</a:t>
            </a:r>
            <a:endParaRPr lang="ru-RU" dirty="0">
              <a:latin typeface="Georgia" panose="02040502050405020303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84600" y="4089561"/>
            <a:ext cx="4222800" cy="496800"/>
          </a:xfrm>
        </p:spPr>
        <p:txBody>
          <a:bodyPr>
            <a:normAutofit/>
          </a:bodyPr>
          <a:lstStyle/>
          <a:p>
            <a:r>
              <a:rPr lang="ru-RU" sz="2000" dirty="0" smtClean="0">
                <a:latin typeface="Georgia" panose="02040502050405020303" pitchFamily="18" charset="0"/>
                <a:ea typeface="+mj-ea"/>
                <a:cs typeface="+mj-cs"/>
              </a:rPr>
              <a:t>Выполнил</a:t>
            </a:r>
            <a:r>
              <a:rPr lang="en-US" sz="2000" dirty="0" smtClean="0">
                <a:latin typeface="Georgia" panose="02040502050405020303" pitchFamily="18" charset="0"/>
                <a:ea typeface="+mj-ea"/>
                <a:cs typeface="+mj-cs"/>
              </a:rPr>
              <a:t>: </a:t>
            </a:r>
            <a:r>
              <a:rPr lang="ru-RU" sz="2000" dirty="0" smtClean="0">
                <a:latin typeface="Georgia" panose="02040502050405020303" pitchFamily="18" charset="0"/>
                <a:ea typeface="+mj-ea"/>
                <a:cs typeface="+mj-cs"/>
              </a:rPr>
              <a:t>Редькин Андрей</a:t>
            </a:r>
            <a:endParaRPr lang="ru-RU" sz="2000" dirty="0">
              <a:latin typeface="Georgia" panose="02040502050405020303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492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875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Georgia" panose="02040502050405020303" pitchFamily="18" charset="0"/>
              </a:rPr>
              <a:t>Актуальность</a:t>
            </a:r>
            <a:endParaRPr lang="ru-RU" dirty="0">
              <a:latin typeface="Georgia" panose="02040502050405020303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5580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latin typeface="Georgia" panose="02040502050405020303" pitchFamily="18" charset="0"/>
                <a:ea typeface="+mj-ea"/>
                <a:cs typeface="+mj-cs"/>
              </a:rPr>
              <a:t>Как правило пользователи всего, что требует авторизацию имеют несколько аккаунтов, и следовательно несколько паролей</a:t>
            </a:r>
            <a:r>
              <a:rPr lang="ru-RU" sz="2400" dirty="0">
                <a:latin typeface="Georgia" panose="02040502050405020303" pitchFamily="18" charset="0"/>
                <a:ea typeface="+mj-ea"/>
                <a:cs typeface="+mj-cs"/>
              </a:rPr>
              <a:t>. Забыть их легче простого</a:t>
            </a:r>
            <a:r>
              <a:rPr lang="en-US" sz="2400" dirty="0">
                <a:latin typeface="Georgia" panose="02040502050405020303" pitchFamily="18" charset="0"/>
                <a:ea typeface="+mj-ea"/>
                <a:cs typeface="+mj-cs"/>
              </a:rPr>
              <a:t>. </a:t>
            </a:r>
            <a:r>
              <a:rPr lang="ru-RU" sz="2400" dirty="0">
                <a:latin typeface="Georgia" panose="02040502050405020303" pitchFamily="18" charset="0"/>
                <a:ea typeface="+mj-ea"/>
                <a:cs typeface="+mj-cs"/>
              </a:rPr>
              <a:t>Да и </a:t>
            </a:r>
            <a:r>
              <a:rPr lang="ru-RU" sz="2400" dirty="0" smtClean="0">
                <a:latin typeface="Georgia" panose="02040502050405020303" pitchFamily="18" charset="0"/>
                <a:ea typeface="+mj-ea"/>
                <a:cs typeface="+mj-cs"/>
              </a:rPr>
              <a:t>утечки данных дело не редкое</a:t>
            </a:r>
            <a:r>
              <a:rPr lang="en-US" sz="2400" dirty="0" smtClean="0">
                <a:latin typeface="Georgia" panose="02040502050405020303" pitchFamily="18" charset="0"/>
                <a:ea typeface="+mj-ea"/>
                <a:cs typeface="+mj-cs"/>
              </a:rPr>
              <a:t>.</a:t>
            </a:r>
            <a:r>
              <a:rPr lang="ru-RU" sz="2400" dirty="0" smtClean="0">
                <a:latin typeface="Georgia" panose="02040502050405020303" pitchFamily="18" charset="0"/>
                <a:ea typeface="+mj-ea"/>
                <a:cs typeface="+mj-cs"/>
              </a:rPr>
              <a:t> </a:t>
            </a:r>
            <a:endParaRPr lang="ru-RU" sz="2400" dirty="0">
              <a:latin typeface="Georgia" panose="02040502050405020303" pitchFamily="18" charset="0"/>
              <a:ea typeface="+mj-ea"/>
              <a:cs typeface="+mj-cs"/>
            </a:endParaRPr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30239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875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Georgia" panose="02040502050405020303" pitchFamily="18" charset="0"/>
              </a:rPr>
              <a:t>Решение – «Менеджер паролей»</a:t>
            </a:r>
            <a:endParaRPr lang="ru-RU" dirty="0">
              <a:latin typeface="Georgia" panose="02040502050405020303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2460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Georgia" panose="02040502050405020303" pitchFamily="18" charset="0"/>
              </a:rPr>
              <a:t>Менеджер паролей решает следующие задачи</a:t>
            </a:r>
            <a:r>
              <a:rPr lang="en-US" dirty="0" smtClean="0">
                <a:latin typeface="Georgia" panose="02040502050405020303" pitchFamily="18" charset="0"/>
              </a:rPr>
              <a:t>:</a:t>
            </a:r>
            <a:endParaRPr lang="ru-RU" dirty="0" smtClean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ru-RU" dirty="0">
              <a:latin typeface="Georgia" panose="02040502050405020303" pitchFamily="18" charset="0"/>
            </a:endParaRPr>
          </a:p>
          <a:p>
            <a:r>
              <a:rPr lang="ru-RU" sz="2400" dirty="0" smtClean="0">
                <a:latin typeface="Georgia" panose="02040502050405020303" pitchFamily="18" charset="0"/>
              </a:rPr>
              <a:t>Централизованное хранение паролей у различных пользователей.</a:t>
            </a:r>
            <a:endParaRPr lang="en-US" sz="2400" dirty="0" smtClean="0">
              <a:latin typeface="Georgia" panose="02040502050405020303" pitchFamily="18" charset="0"/>
            </a:endParaRPr>
          </a:p>
          <a:p>
            <a:r>
              <a:rPr lang="ru-RU" sz="2400" dirty="0" smtClean="0">
                <a:latin typeface="Georgia" panose="02040502050405020303" pitchFamily="18" charset="0"/>
              </a:rPr>
              <a:t>Хранение паролей от различных ресурсов</a:t>
            </a:r>
            <a:r>
              <a:rPr lang="en-US" sz="2400" dirty="0" smtClean="0">
                <a:latin typeface="Georgia" panose="02040502050405020303" pitchFamily="18" charset="0"/>
              </a:rPr>
              <a:t>.</a:t>
            </a:r>
          </a:p>
          <a:p>
            <a:r>
              <a:rPr lang="ru-RU" sz="2400" dirty="0" smtClean="0">
                <a:latin typeface="Georgia" panose="02040502050405020303" pitchFamily="18" charset="0"/>
              </a:rPr>
              <a:t>Шифрование паролей с помощью алгоритма </a:t>
            </a:r>
            <a:r>
              <a:rPr lang="en-US" sz="2400" dirty="0" smtClean="0">
                <a:latin typeface="Georgia" panose="02040502050405020303" pitchFamily="18" charset="0"/>
              </a:rPr>
              <a:t>AES.</a:t>
            </a:r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33866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875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Georgia" panose="02040502050405020303" pitchFamily="18" charset="0"/>
              </a:rPr>
              <a:t>Пользовательский интерфейс</a:t>
            </a:r>
            <a:endParaRPr lang="ru-RU" dirty="0">
              <a:latin typeface="Georgia" panose="02040502050405020303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93400"/>
            <a:ext cx="6168600" cy="48654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03600" y="1193400"/>
            <a:ext cx="372249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latin typeface="Georgia" panose="02040502050405020303" pitchFamily="18" charset="0"/>
              </a:rPr>
              <a:t>Начальное</a:t>
            </a:r>
            <a:r>
              <a:rPr lang="ru-RU" sz="2400" dirty="0" smtClean="0">
                <a:latin typeface="Georgia" panose="02040502050405020303" pitchFamily="18" charset="0"/>
              </a:rPr>
              <a:t> </a:t>
            </a:r>
            <a:r>
              <a:rPr lang="ru-RU" sz="2800" dirty="0" smtClean="0">
                <a:latin typeface="Georgia" panose="02040502050405020303" pitchFamily="18" charset="0"/>
              </a:rPr>
              <a:t>окно</a:t>
            </a:r>
          </a:p>
          <a:p>
            <a:pPr algn="just">
              <a:spcBef>
                <a:spcPts val="1200"/>
              </a:spcBef>
            </a:pPr>
            <a:r>
              <a:rPr lang="ru-RU" sz="2000" dirty="0" smtClean="0">
                <a:latin typeface="Georgia" panose="02040502050405020303" pitchFamily="18" charset="0"/>
              </a:rPr>
              <a:t>Оно имеет две функции</a:t>
            </a:r>
            <a:r>
              <a:rPr lang="en-US" sz="2000" dirty="0" smtClean="0">
                <a:latin typeface="Georgia" panose="02040502050405020303" pitchFamily="18" charset="0"/>
              </a:rPr>
              <a:t>: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 smtClean="0">
                <a:latin typeface="Georgia" panose="02040502050405020303" pitchFamily="18" charset="0"/>
              </a:rPr>
              <a:t>Добавление пользователя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Georgia" panose="02040502050405020303" pitchFamily="18" charset="0"/>
              </a:rPr>
              <a:t>Вход в аккаунт пользователя</a:t>
            </a:r>
            <a:endParaRPr lang="ru-RU" dirty="0">
              <a:latin typeface="Georgia" panose="02040502050405020303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600" y="3346200"/>
            <a:ext cx="211455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5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875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Georgia" panose="02040502050405020303" pitchFamily="18" charset="0"/>
              </a:rPr>
              <a:t>Пользовательский интерфейс</a:t>
            </a:r>
            <a:endParaRPr lang="ru-RU" dirty="0">
              <a:latin typeface="Georgia" panose="020405020504050203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55201" y="1359000"/>
            <a:ext cx="46368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ru-RU" sz="2800" dirty="0">
                <a:latin typeface="Georgia" panose="02040502050405020303" pitchFamily="18" charset="0"/>
              </a:rPr>
              <a:t>Окно</a:t>
            </a:r>
            <a:r>
              <a:rPr lang="ru-RU" sz="2000" dirty="0" smtClean="0">
                <a:latin typeface="Georgia" panose="02040502050405020303" pitchFamily="18" charset="0"/>
              </a:rPr>
              <a:t> </a:t>
            </a:r>
            <a:r>
              <a:rPr lang="en-US" sz="2800" dirty="0">
                <a:latin typeface="Georgia" panose="02040502050405020303" pitchFamily="18" charset="0"/>
              </a:rPr>
              <a:t>c </a:t>
            </a:r>
            <a:r>
              <a:rPr lang="ru-RU" sz="2800" dirty="0">
                <a:latin typeface="Georgia" panose="02040502050405020303" pitchFamily="18" charset="0"/>
              </a:rPr>
              <a:t>аккаунтами</a:t>
            </a:r>
            <a:endParaRPr lang="en-US" sz="2800" dirty="0">
              <a:latin typeface="Georgia" panose="02040502050405020303" pitchFamily="18" charset="0"/>
            </a:endParaRPr>
          </a:p>
          <a:p>
            <a:pPr algn="just">
              <a:spcBef>
                <a:spcPts val="1200"/>
              </a:spcBef>
            </a:pPr>
            <a:r>
              <a:rPr lang="ru-RU" sz="2000" dirty="0" smtClean="0">
                <a:latin typeface="Georgia" panose="02040502050405020303" pitchFamily="18" charset="0"/>
              </a:rPr>
              <a:t>Оно имеет больше двух функций</a:t>
            </a:r>
            <a:r>
              <a:rPr lang="en-US" sz="2000" dirty="0" smtClean="0">
                <a:latin typeface="Georgia" panose="02040502050405020303" pitchFamily="18" charset="0"/>
              </a:rPr>
              <a:t>: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 smtClean="0">
                <a:latin typeface="Georgia" panose="02040502050405020303" pitchFamily="18" charset="0"/>
              </a:rPr>
              <a:t>Добавление аккаунта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 smtClean="0">
                <a:latin typeface="Georgia" panose="02040502050405020303" pitchFamily="18" charset="0"/>
              </a:rPr>
              <a:t>Удаление аккаунта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 smtClean="0">
                <a:latin typeface="Georgia" panose="02040502050405020303" pitchFamily="18" charset="0"/>
              </a:rPr>
              <a:t>Изменение данных аккаунта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 smtClean="0">
                <a:latin typeface="Georgia" panose="02040502050405020303" pitchFamily="18" charset="0"/>
              </a:rPr>
              <a:t>Удаление пользователя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93400"/>
            <a:ext cx="6292800" cy="49555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201" y="4174200"/>
            <a:ext cx="2401199" cy="226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59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875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Georgia" panose="02040502050405020303" pitchFamily="18" charset="0"/>
              </a:rPr>
              <a:t>Безопасность на первом месте</a:t>
            </a:r>
            <a:endParaRPr lang="ru-RU" dirty="0">
              <a:latin typeface="Georgia" panose="02040502050405020303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24600"/>
            <a:ext cx="10515600" cy="745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 smtClean="0">
                <a:latin typeface="Georgia" panose="02040502050405020303" pitchFamily="18" charset="0"/>
              </a:rPr>
              <a:t>Что бы дать пользователю войти в свой аккаунт, программа проверяет совпадают ли </a:t>
            </a:r>
            <a:r>
              <a:rPr lang="ru-RU" sz="2200" dirty="0" err="1" smtClean="0">
                <a:latin typeface="Georgia" panose="02040502050405020303" pitchFamily="18" charset="0"/>
              </a:rPr>
              <a:t>хэш</a:t>
            </a:r>
            <a:r>
              <a:rPr lang="ru-RU" sz="2200" dirty="0" smtClean="0">
                <a:latin typeface="Georgia" panose="02040502050405020303" pitchFamily="18" charset="0"/>
              </a:rPr>
              <a:t> введенного пароля и </a:t>
            </a:r>
            <a:r>
              <a:rPr lang="ru-RU" sz="2200" dirty="0" err="1" smtClean="0">
                <a:latin typeface="Georgia" panose="02040502050405020303" pitchFamily="18" charset="0"/>
              </a:rPr>
              <a:t>хэш</a:t>
            </a:r>
            <a:r>
              <a:rPr lang="ru-RU" sz="2200" dirty="0" smtClean="0">
                <a:latin typeface="Georgia" panose="02040502050405020303" pitchFamily="18" charset="0"/>
              </a:rPr>
              <a:t> пароля в БД</a:t>
            </a:r>
            <a:r>
              <a:rPr lang="en-US" sz="2200" dirty="0" smtClean="0">
                <a:latin typeface="Georgia" panose="02040502050405020303" pitchFamily="18" charset="0"/>
              </a:rPr>
              <a:t>.</a:t>
            </a:r>
            <a:endParaRPr lang="ru-RU" sz="22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00" y="2435400"/>
            <a:ext cx="5200270" cy="993600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>
            <a:off x="2949600" y="2187000"/>
            <a:ext cx="165600" cy="910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15425"/>
            <a:ext cx="3601800" cy="951179"/>
          </a:xfrm>
          <a:prstGeom prst="rect">
            <a:avLst/>
          </a:prstGeom>
        </p:spPr>
      </p:pic>
      <p:sp>
        <p:nvSpPr>
          <p:cNvPr id="15" name="Объект 2"/>
          <p:cNvSpPr txBox="1">
            <a:spLocks/>
          </p:cNvSpPr>
          <p:nvPr/>
        </p:nvSpPr>
        <p:spPr>
          <a:xfrm>
            <a:off x="838200" y="3760200"/>
            <a:ext cx="10515600" cy="74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dirty="0">
                <a:latin typeface="Georgia" panose="02040502050405020303" pitchFamily="18" charset="0"/>
              </a:rPr>
              <a:t>Пароли от аккаунтов пользователей защищены алгоритмом </a:t>
            </a:r>
            <a:r>
              <a:rPr lang="en-US" sz="2200" dirty="0">
                <a:latin typeface="Georgia" panose="02040502050405020303" pitchFamily="18" charset="0"/>
              </a:rPr>
              <a:t>AES, </a:t>
            </a:r>
            <a:r>
              <a:rPr lang="ru-RU" sz="2200" dirty="0">
                <a:latin typeface="Georgia" panose="02040502050405020303" pitchFamily="18" charset="0"/>
              </a:rPr>
              <a:t>с помощью которого можно зашифровать и расшифровать данные</a:t>
            </a:r>
            <a:r>
              <a:rPr lang="en-US" sz="2200" dirty="0">
                <a:latin typeface="Georgia" panose="02040502050405020303" pitchFamily="18" charset="0"/>
              </a:rPr>
              <a:t>.</a:t>
            </a:r>
            <a:endParaRPr lang="ru-RU" sz="2200" dirty="0">
              <a:latin typeface="Georgia" panose="02040502050405020303" pitchFamily="18" charset="0"/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 flipH="1" flipV="1">
            <a:off x="3198000" y="5333400"/>
            <a:ext cx="579600" cy="828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60400" y="6161400"/>
            <a:ext cx="6370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>
                <a:latin typeface="Georgia" panose="02040502050405020303" pitchFamily="18" charset="0"/>
              </a:rPr>
              <a:t>Зашифрованные пароли хранятся в двоичном виде</a:t>
            </a:r>
            <a:endParaRPr lang="ru-RU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45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6800" y="2187000"/>
            <a:ext cx="10515600" cy="1464675"/>
          </a:xfrm>
        </p:spPr>
        <p:txBody>
          <a:bodyPr/>
          <a:lstStyle/>
          <a:p>
            <a:r>
              <a:rPr lang="ru-RU" dirty="0" smtClean="0">
                <a:latin typeface="Georgia" panose="02040502050405020303" pitchFamily="18" charset="0"/>
              </a:rPr>
              <a:t>Спасибо за внимание!</a:t>
            </a:r>
            <a:endParaRPr lang="ru-RU" dirty="0">
              <a:latin typeface="Georgia" panose="02040502050405020303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28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157</Words>
  <Application>Microsoft Office PowerPoint</Application>
  <PresentationFormat>Широкоэкранный</PresentationFormat>
  <Paragraphs>27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Georgia</vt:lpstr>
      <vt:lpstr>Тема Office</vt:lpstr>
      <vt:lpstr>Менеджер паролей</vt:lpstr>
      <vt:lpstr>Актуальность</vt:lpstr>
      <vt:lpstr>Решение – «Менеджер паролей»</vt:lpstr>
      <vt:lpstr>Пользовательский интерфейс</vt:lpstr>
      <vt:lpstr>Пользовательский интерфейс</vt:lpstr>
      <vt:lpstr>Безопасность на первом месте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Менеджер паролей</dc:title>
  <dc:creator>Комп</dc:creator>
  <cp:lastModifiedBy>Комп</cp:lastModifiedBy>
  <cp:revision>17</cp:revision>
  <dcterms:created xsi:type="dcterms:W3CDTF">2025-11-18T15:29:58Z</dcterms:created>
  <dcterms:modified xsi:type="dcterms:W3CDTF">2025-11-18T19:56:37Z</dcterms:modified>
</cp:coreProperties>
</file>